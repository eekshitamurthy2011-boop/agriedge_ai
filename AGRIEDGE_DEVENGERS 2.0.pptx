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99767" y="425349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88619" y="75438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771900" y="662940"/>
            <a:ext cx="320040" cy="32004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5860" y="4732020"/>
            <a:ext cx="411480" cy="41148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46120" y="5257800"/>
            <a:ext cx="274320" cy="2743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091939" y="3543300"/>
            <a:ext cx="228600" cy="228600"/>
          </a:xfrm>
          <a:prstGeom prst="ellipse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4023360" cy="91440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AgriEdge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94560"/>
            <a:ext cx="4023360" cy="50292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500" b="0" i="1">
                <a:solidFill>
                  <a:srgbClr val="C8E6C9"/>
                </a:solidFill>
                <a:latin typeface="Calibri"/>
              </a:rPr>
              <a:t>Offline-First · Anti-Exploitation · Edge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43200"/>
            <a:ext cx="4023360" cy="221018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Target Event: </a:t>
            </a:r>
            <a:r>
              <a:rPr lang="en-US" sz="1200" dirty="0">
                <a:solidFill>
                  <a:srgbClr val="FFFFFF"/>
                </a:solidFill>
                <a:latin typeface="Calibri"/>
              </a:rPr>
              <a:t>HACK DEVENGERS 2.0</a:t>
            </a:r>
            <a:endParaRPr sz="12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3108960"/>
            <a:ext cx="4023360" cy="221018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Domain: </a:t>
            </a:r>
            <a:r>
              <a:rPr lang="en-US" sz="1200" dirty="0">
                <a:solidFill>
                  <a:srgbClr val="FFFFFF"/>
                </a:solidFill>
                <a:latin typeface="Calibri"/>
              </a:rPr>
              <a:t>AGRICULTURAL AND RURAL DEVELOPMENT</a:t>
            </a:r>
            <a:endParaRPr sz="12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3474720"/>
            <a:ext cx="4023360" cy="36576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Core Tech: TFLite · Flutter · OCR · 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57800"/>
            <a:ext cx="3840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HACK DEVENGERS 2.0</a:t>
            </a:r>
            <a:endParaRPr sz="4000" b="1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20640" y="411480"/>
            <a:ext cx="6858000" cy="64008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3000" b="1" i="0">
                <a:solidFill>
                  <a:srgbClr val="1B5E20"/>
                </a:solidFill>
                <a:latin typeface="Calibri"/>
              </a:rPr>
              <a:t>Team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005840"/>
            <a:ext cx="6858000" cy="36576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100" b="0" i="1">
                <a:solidFill>
                  <a:srgbClr val="607D8B"/>
                </a:solidFill>
                <a:latin typeface="Calibri"/>
              </a:rPr>
              <a:t>(Fill in your registered SIH details — placeholders below)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1508760"/>
            <a:ext cx="2651760" cy="411480"/>
          </a:xfrm>
          <a:prstGeom prst="rect">
            <a:avLst/>
          </a:prstGeom>
          <a:solidFill>
            <a:srgbClr val="C8E6C9"/>
          </a:solidFill>
          <a:ln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12080" y="1508760"/>
            <a:ext cx="2468880" cy="41148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Team 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1508760"/>
            <a:ext cx="42062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607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AGRIEDGE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120640" y="1979829"/>
            <a:ext cx="2651760" cy="411480"/>
          </a:xfrm>
          <a:prstGeom prst="rect">
            <a:avLst/>
          </a:prstGeom>
          <a:solidFill>
            <a:srgbClr val="C8E6C9"/>
          </a:solidFill>
          <a:ln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20640" y="2084051"/>
            <a:ext cx="2697480" cy="221018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Team Leader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40980" y="1983762"/>
            <a:ext cx="4206240" cy="41148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 EEKSHITA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120640" y="2437029"/>
            <a:ext cx="2651760" cy="411480"/>
          </a:xfrm>
          <a:prstGeom prst="rect">
            <a:avLst/>
          </a:prstGeom>
          <a:solidFill>
            <a:srgbClr val="C8E6C9"/>
          </a:solidFill>
          <a:ln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5120640" y="2417015"/>
            <a:ext cx="2468880" cy="41148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Institute / College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2468880"/>
            <a:ext cx="4206240" cy="388270"/>
          </a:xfrm>
          <a:prstGeom prst="rect">
            <a:avLst/>
          </a:prstGeom>
          <a:solidFill>
            <a:srgbClr val="FFFFFF"/>
          </a:solidFill>
          <a:ln>
            <a:solidFill>
              <a:srgbClr val="607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VELTECH UNIVERSITY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120640" y="2914952"/>
            <a:ext cx="2651760" cy="411480"/>
          </a:xfrm>
          <a:prstGeom prst="rect">
            <a:avLst/>
          </a:prstGeom>
          <a:solidFill>
            <a:srgbClr val="C8E6C9"/>
          </a:solidFill>
          <a:ln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5120640" y="2857150"/>
            <a:ext cx="2468880" cy="41148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00" b="1" i="0" dirty="0">
                <a:solidFill>
                  <a:srgbClr val="1B5E20"/>
                </a:solidFill>
                <a:latin typeface="Calibri"/>
              </a:rPr>
              <a:t>City &amp;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18120" y="2925730"/>
            <a:ext cx="42062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607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CHENNAI, INDIA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120640" y="3383280"/>
            <a:ext cx="2651760" cy="411480"/>
          </a:xfrm>
          <a:prstGeom prst="rect">
            <a:avLst/>
          </a:prstGeom>
          <a:solidFill>
            <a:srgbClr val="C8E6C9"/>
          </a:solidFill>
          <a:ln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0" name="TextBox 39"/>
          <p:cNvSpPr txBox="1"/>
          <p:nvPr/>
        </p:nvSpPr>
        <p:spPr>
          <a:xfrm>
            <a:off x="5181905" y="3332890"/>
            <a:ext cx="2468880" cy="41148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00" b="1" i="0" dirty="0">
                <a:solidFill>
                  <a:srgbClr val="1B5E20"/>
                </a:solidFill>
                <a:latin typeface="Calibri"/>
              </a:rPr>
              <a:t>Theme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18120" y="3405790"/>
            <a:ext cx="4229100" cy="366110"/>
          </a:xfrm>
          <a:prstGeom prst="rect">
            <a:avLst/>
          </a:prstGeom>
          <a:solidFill>
            <a:srgbClr val="FFFFFF"/>
          </a:solidFill>
          <a:ln>
            <a:solidFill>
              <a:srgbClr val="607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7886700" y="3395674"/>
            <a:ext cx="4137660" cy="221018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00" b="0" i="0" dirty="0">
                <a:solidFill>
                  <a:srgbClr val="212121"/>
                </a:solidFill>
                <a:latin typeface="Calibri"/>
              </a:rPr>
              <a:t>Agriculture &amp; Food Tech (Agri tech)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0" y="3854349"/>
            <a:ext cx="2651760" cy="411480"/>
          </a:xfrm>
          <a:prstGeom prst="rect">
            <a:avLst/>
          </a:prstGeom>
          <a:solidFill>
            <a:srgbClr val="C8E6C9"/>
          </a:solidFill>
          <a:ln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5120640" y="3801218"/>
            <a:ext cx="2468880" cy="41148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Problem Statement Title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18120" y="3865618"/>
            <a:ext cx="4229100" cy="400211"/>
          </a:xfrm>
          <a:prstGeom prst="rect">
            <a:avLst/>
          </a:prstGeom>
          <a:solidFill>
            <a:srgbClr val="FFFFFF"/>
          </a:solidFill>
          <a:ln>
            <a:solidFill>
              <a:srgbClr val="607D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0" name="TextBox 49"/>
          <p:cNvSpPr txBox="1"/>
          <p:nvPr/>
        </p:nvSpPr>
        <p:spPr>
          <a:xfrm>
            <a:off x="7886700" y="3894132"/>
            <a:ext cx="4046220" cy="221018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00" b="0" i="0" dirty="0">
                <a:solidFill>
                  <a:srgbClr val="212121"/>
                </a:solidFill>
                <a:latin typeface="Calibri"/>
              </a:rPr>
              <a:t>AI-powered crop disease diagnosis &amp; farmer advisory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120640" y="6080760"/>
            <a:ext cx="6858000" cy="502920"/>
          </a:xfrm>
          <a:prstGeom prst="round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120640" y="6080760"/>
            <a:ext cx="6858000" cy="50292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Domain: Agritech · Edge AI · Anti-Exploitation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" y="16459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"/>
            <a:ext cx="10515600" cy="5486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Problem Statement &amp;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100" b="0" i="1">
                <a:solidFill>
                  <a:srgbClr val="C8E6C9"/>
                </a:solidFill>
                <a:latin typeface="Calibri"/>
              </a:rPr>
              <a:t>AgriEdge AI — Offline-First Agri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5486400" cy="41148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800" b="1" i="0">
                <a:solidFill>
                  <a:srgbClr val="1B5E20"/>
                </a:solidFill>
                <a:latin typeface="Calibri"/>
              </a:rPr>
              <a:t>[!]  Problem — Ground Realities</a:t>
            </a:r>
          </a:p>
        </p:txBody>
      </p:sp>
      <p:pic>
        <p:nvPicPr>
          <p:cNvPr id="8" name="Picture 7" descr="farmer_ph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687101" cy="2468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3749039"/>
            <a:ext cx="5486400" cy="4572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3822191"/>
            <a:ext cx="5486400" cy="32004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200" b="1" i="0">
                <a:solidFill>
                  <a:srgbClr val="37474F"/>
                </a:solidFill>
                <a:latin typeface="Calibri"/>
              </a:rPr>
              <a:t>Current agri-diagnostic apps suffer from: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60520"/>
            <a:ext cx="5486400" cy="246888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Connectivity dependency — 4G/5G drop = unusable in remote fields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Single-photo misdiagnosis — shadows, leaf moisture → wrong chemicals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Retail exploitation — local sellers push wrong / high-margin pesticides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No financial safety nets — PMFBY claims lack audit-ready evidence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Buyer exploitation — opaque supply chains &amp; middlemen drain premiums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Adoption barrier — only 1–3 % of active Indian farmers use such apps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822960"/>
            <a:ext cx="5669280" cy="41148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800" b="1" i="0">
                <a:solidFill>
                  <a:srgbClr val="1B5E20"/>
                </a:solidFill>
                <a:latin typeface="Calibri"/>
              </a:rPr>
              <a:t>[OK]  Proposed Solution — AgriEdge AI</a:t>
            </a:r>
          </a:p>
        </p:txBody>
      </p:sp>
      <p:pic>
        <p:nvPicPr>
          <p:cNvPr id="13" name="Picture 12" descr="leaf_diseas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80160"/>
            <a:ext cx="4526280" cy="24688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63640" y="3749039"/>
            <a:ext cx="5669280" cy="457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3822191"/>
            <a:ext cx="5669280" cy="32004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200" b="1" i="0">
                <a:solidFill>
                  <a:srgbClr val="37474F"/>
                </a:solidFill>
                <a:latin typeface="Calibri"/>
              </a:rPr>
              <a:t>A hybrid, offline-first ecosystem that: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160520"/>
            <a:ext cx="5669280" cy="246888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Runs full diagnostic on-device — ZERO internet in the field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Multi-modal verification: voice (local dialect) + 5–10 photos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4-stage fail-safe pipeline with on-device TFLite model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OCR chemical-label scanner = Retail Scam-Shield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Cloud-sync Crop Health Passport → buyer bidding, KVK, PMFBY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Anti-fraud layer — live camera, EXIF, GPS geo-fencing, pHash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" y="16459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"/>
            <a:ext cx="10515600" cy="5486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Technical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100" b="0" i="1">
                <a:solidFill>
                  <a:srgbClr val="C8E6C9"/>
                </a:solidFill>
                <a:latin typeface="Calibri"/>
              </a:rPr>
              <a:t>Two-Mode Architecture · Offline-First · Anti-Exploitation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24" y="681080"/>
            <a:ext cx="10170979" cy="60261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" y="16459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"/>
            <a:ext cx="10515600" cy="5486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4-Stage Fail-Safe Diagnostic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100" b="0" i="1">
                <a:solidFill>
                  <a:srgbClr val="C8E6C9"/>
                </a:solidFill>
                <a:latin typeface="Calibri"/>
              </a:rPr>
              <a:t>How AgriEdge AI reaches an advisory in the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ctr"/>
            <a:r>
              <a:rPr sz="1200" b="0" i="1">
                <a:solidFill>
                  <a:srgbClr val="607D8B"/>
                </a:solidFill>
                <a:latin typeface="Calibri"/>
              </a:rPr>
              <a:t>On-device · Offline · Confidence-gated · Anti-Exploitation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2468880" cy="3108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2468880" cy="5029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468880" cy="50292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STAGE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2468880" cy="5486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1600" b="1" i="0">
                <a:solidFill>
                  <a:srgbClr val="1B5E20"/>
                </a:solidFill>
                <a:latin typeface="Calibri"/>
              </a:rPr>
              <a:t>Farmer Intuition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2194560" cy="164592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Voice / Text input</a:t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Local-dialect parsing</a:t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Extracts: weather,</a:t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symptom onset, crop type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2880360"/>
            <a:ext cx="320040" cy="0"/>
          </a:xfrm>
          <a:prstGeom prst="line">
            <a:avLst/>
          </a:prstGeom>
          <a:ln w="4445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246120" y="1417320"/>
            <a:ext cx="2468880" cy="3108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6120" y="1417320"/>
            <a:ext cx="2468880" cy="50292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46120" y="1417320"/>
            <a:ext cx="2468880" cy="50292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057400"/>
            <a:ext cx="2468880" cy="5486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1600" b="1" i="0">
                <a:solidFill>
                  <a:srgbClr val="1B5E20"/>
                </a:solidFill>
                <a:latin typeface="Calibri"/>
              </a:rPr>
              <a:t>Multi-Angle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743200"/>
            <a:ext cx="2194560" cy="164592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5–10 leaf photos</a:t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OpenCV blur / light guard</a:t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On-device TFLite inference</a:t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Spatial averaging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15000" y="2880360"/>
            <a:ext cx="320040" cy="0"/>
          </a:xfrm>
          <a:prstGeom prst="line">
            <a:avLst/>
          </a:prstGeom>
          <a:ln w="4445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035040" y="1417320"/>
            <a:ext cx="2468880" cy="3108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35040" y="1417320"/>
            <a:ext cx="2468880" cy="50292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0" y="1417320"/>
            <a:ext cx="2468880" cy="50292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057400"/>
            <a:ext cx="2468880" cy="5486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1600" b="1" i="0">
                <a:solidFill>
                  <a:srgbClr val="1B5E20"/>
                </a:solidFill>
                <a:latin typeface="Calibri"/>
              </a:rPr>
              <a:t>Rule-Based Q&amp;A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743200"/>
            <a:ext cx="2194560" cy="164592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Cross-verification Qs</a:t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Audio / icon triggers</a:t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Confidence gate check</a:t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   ≥ 85 % threshold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03920" y="2880360"/>
            <a:ext cx="320040" cy="0"/>
          </a:xfrm>
          <a:prstGeom prst="line">
            <a:avLst/>
          </a:prstGeom>
          <a:ln w="44450">
            <a:solidFill>
              <a:srgbClr val="374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823960" y="1417320"/>
            <a:ext cx="2468880" cy="3108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823960" y="1417320"/>
            <a:ext cx="2468880" cy="5029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23960" y="1417320"/>
            <a:ext cx="2468880" cy="50292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057400"/>
            <a:ext cx="2468880" cy="5486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1600" b="1" i="0">
                <a:solidFill>
                  <a:srgbClr val="1B5E20"/>
                </a:solidFill>
                <a:latin typeface="Calibri"/>
              </a:rPr>
              <a:t>Precision Advisory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743200"/>
            <a:ext cx="2194560" cy="164592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Organic-first recommendation</a:t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Generic chemical salts if needed</a:t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OCR label verification</a:t>
            </a:r>
          </a:p>
          <a:p>
            <a:pPr algn="l"/>
            <a:r>
              <a:rPr sz="1100" b="0" i="0">
                <a:solidFill>
                  <a:srgbClr val="212121"/>
                </a:solidFill>
                <a:latin typeface="Calibri"/>
              </a:rPr>
              <a:t>• (pesticide scam-shield)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54880"/>
            <a:ext cx="11247120" cy="1325880"/>
          </a:xfrm>
          <a:prstGeom prst="roundRect">
            <a:avLst/>
          </a:prstGeom>
          <a:solidFill>
            <a:srgbClr val="FFE0B2"/>
          </a:solidFill>
          <a:ln w="1905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7269480" y="4526280"/>
            <a:ext cx="0" cy="22860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4800600"/>
            <a:ext cx="11064240" cy="41148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400" b="1" i="0">
                <a:solidFill>
                  <a:srgbClr val="F57C00"/>
                </a:solidFill>
                <a:latin typeface="Calibri"/>
              </a:rPr>
              <a:t>If confidence &lt; 85 % 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Request new photos  →  Human-in-the-loop KVK / University escalation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→  24 h tele-callback  ·  48 h on-site visit SLA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ctr"/>
            <a:r>
              <a:rPr sz="1100" b="0" i="1">
                <a:solidFill>
                  <a:srgbClr val="37474F"/>
                </a:solidFill>
                <a:latin typeface="Calibri"/>
              </a:rPr>
              <a:t>Organic-first prescriptions · Generic chemical salts only when necessary · OCR pesticide cross-check shields farmers from retail scams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" y="16459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"/>
            <a:ext cx="10515600" cy="5486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Feasibility &amp;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100" b="0" i="1">
                <a:solidFill>
                  <a:srgbClr val="C8E6C9"/>
                </a:solidFill>
                <a:latin typeface="Calibri"/>
              </a:rPr>
              <a:t>Known Limitation  →  Engineering Mitigation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3200400" cy="5486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566160" y="914400"/>
            <a:ext cx="8229600" cy="5486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3200400" cy="5486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Known Limitation / 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914400"/>
            <a:ext cx="8229600" cy="5486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Engineering Mitigation Strategy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63040"/>
            <a:ext cx="11430000" cy="777240"/>
          </a:xfrm>
          <a:prstGeom prst="rect">
            <a:avLst/>
          </a:prstGeom>
          <a:solidFill>
            <a:srgbClr val="C8E6C9"/>
          </a:solidFill>
          <a:ln w="6350">
            <a:solidFill>
              <a:srgbClr val="ECEF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40" y="1463040"/>
            <a:ext cx="91440" cy="7772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463040"/>
            <a:ext cx="2971800" cy="7772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50" b="1" i="0">
                <a:solidFill>
                  <a:srgbClr val="212121"/>
                </a:solidFill>
                <a:latin typeface="Calibri"/>
              </a:rPr>
              <a:t>Blurry / dark field photos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463040"/>
            <a:ext cx="8001000" cy="7772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OpenCV guardrail — real-time blur &amp; lighting check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40280"/>
            <a:ext cx="11430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F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20440" y="2240280"/>
            <a:ext cx="91440" cy="77724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240280"/>
            <a:ext cx="2971800" cy="7772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50" b="1" i="0">
                <a:solidFill>
                  <a:srgbClr val="212121"/>
                </a:solidFill>
                <a:latin typeface="Calibri"/>
              </a:rPr>
              <a:t>Out-of-scope / rare diseases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240280"/>
            <a:ext cx="8001000" cy="7772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Auto-escalation to KVK expert portal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17520"/>
            <a:ext cx="11430000" cy="777240"/>
          </a:xfrm>
          <a:prstGeom prst="rect">
            <a:avLst/>
          </a:prstGeom>
          <a:solidFill>
            <a:srgbClr val="C8E6C9"/>
          </a:solidFill>
          <a:ln w="6350">
            <a:solidFill>
              <a:srgbClr val="ECEF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20440" y="3017520"/>
            <a:ext cx="91440" cy="77724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017520"/>
            <a:ext cx="2971800" cy="7772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50" b="1" i="0">
                <a:solidFill>
                  <a:srgbClr val="212121"/>
                </a:solidFill>
                <a:latin typeface="Calibri"/>
              </a:rPr>
              <a:t>Internal / root-only pathogens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017520"/>
            <a:ext cx="8001000" cy="7772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Voice-guided stem-discoloration &amp; soil-dampness prompts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794760"/>
            <a:ext cx="11430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F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520440" y="3794760"/>
            <a:ext cx="91440" cy="7772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794760"/>
            <a:ext cx="2971800" cy="7772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50" b="1" i="0">
                <a:solidFill>
                  <a:srgbClr val="212121"/>
                </a:solidFill>
                <a:latin typeface="Calibri"/>
              </a:rPr>
              <a:t>Large APK footprint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3794760"/>
            <a:ext cx="8001000" cy="7772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int-8 quantization — model kept under 15 MB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72000"/>
            <a:ext cx="11430000" cy="777240"/>
          </a:xfrm>
          <a:prstGeom prst="rect">
            <a:avLst/>
          </a:prstGeom>
          <a:solidFill>
            <a:srgbClr val="C8E6C9"/>
          </a:solidFill>
          <a:ln w="6350">
            <a:solidFill>
              <a:srgbClr val="ECEF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20440" y="4572000"/>
            <a:ext cx="91440" cy="77724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4572000"/>
            <a:ext cx="2971800" cy="7772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50" b="1" i="0">
                <a:solidFill>
                  <a:srgbClr val="212121"/>
                </a:solidFill>
                <a:latin typeface="Calibri"/>
              </a:rPr>
              <a:t>Fraudulent crop-damage claims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572000"/>
            <a:ext cx="8001000" cy="7772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  <a:latin typeface="Calibri"/>
              </a:rPr>
              <a:t>Live camera lock + EXIF + GPS geo-fencing + pHash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852160"/>
            <a:ext cx="11430000" cy="59436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5852160"/>
            <a:ext cx="11430000" cy="59436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Calibri"/>
              </a:rPr>
              <a:t>Result: a robust, deployable APK that fits low-end smartphones and works reliably in low-connectivity rural India.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" y="16459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"/>
            <a:ext cx="10515600" cy="5486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Impact &amp;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100" b="0" i="1">
                <a:solidFill>
                  <a:srgbClr val="C8E6C9"/>
                </a:solidFill>
                <a:latin typeface="Calibri"/>
              </a:rPr>
              <a:t>Measurable outcomes for farmers, buyers &amp; government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ctr"/>
            <a:r>
              <a:rPr sz="1400" b="1" i="0">
                <a:solidFill>
                  <a:srgbClr val="1B5E20"/>
                </a:solidFill>
                <a:latin typeface="Calibri"/>
              </a:rPr>
              <a:t>Measurable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34440"/>
            <a:ext cx="1859280" cy="1463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1859280" cy="64008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1859280" cy="64008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47672"/>
            <a:ext cx="1859280" cy="73152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Internet required</a:t>
            </a:r>
          </a:p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in field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70759" y="1234440"/>
            <a:ext cx="1859280" cy="1463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70759" y="1234440"/>
            <a:ext cx="1859280" cy="6400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70759" y="1234440"/>
            <a:ext cx="1859280" cy="64008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&gt;= 85 %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0759" y="1947672"/>
            <a:ext cx="1859280" cy="73152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Confidence gate</a:t>
            </a:r>
          </a:p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threshold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75760" y="1234440"/>
            <a:ext cx="1859280" cy="1463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75760" y="1234440"/>
            <a:ext cx="1859280" cy="64008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75760" y="1234440"/>
            <a:ext cx="1859280" cy="64008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12–15 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5760" y="1947672"/>
            <a:ext cx="1859280" cy="73152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TFLite model</a:t>
            </a:r>
          </a:p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footprint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59" y="1234440"/>
            <a:ext cx="1859280" cy="1463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80759" y="1234440"/>
            <a:ext cx="1859280" cy="64008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80759" y="1234440"/>
            <a:ext cx="1859280" cy="64008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10–20 %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1947672"/>
            <a:ext cx="1859280" cy="73152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Price premium via</a:t>
            </a:r>
          </a:p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Crop Passport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5759" y="1234440"/>
            <a:ext cx="1859280" cy="1463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85759" y="1234440"/>
            <a:ext cx="1859280" cy="64008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85759" y="1234440"/>
            <a:ext cx="1859280" cy="64008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24 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5759" y="1947672"/>
            <a:ext cx="1859280" cy="73152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KVK tele-callback</a:t>
            </a:r>
          </a:p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SLA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90759" y="1234440"/>
            <a:ext cx="1859280" cy="1463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890759" y="1234440"/>
            <a:ext cx="1859280" cy="64008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90759" y="1234440"/>
            <a:ext cx="1859280" cy="64008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48 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0759" y="1947672"/>
            <a:ext cx="1859280" cy="73152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Field-officer visit</a:t>
            </a:r>
          </a:p>
          <a:p>
            <a:pPr algn="ctr"/>
            <a:r>
              <a:rPr sz="1100" b="0" i="0">
                <a:solidFill>
                  <a:srgbClr val="212121"/>
                </a:solidFill>
                <a:latin typeface="Calibri"/>
              </a:rPr>
              <a:t>SLA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3108960"/>
            <a:ext cx="37033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3108960"/>
            <a:ext cx="3703320" cy="5943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3108960"/>
            <a:ext cx="3703320" cy="59436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For Farmers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886200"/>
            <a:ext cx="3337560" cy="228600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Shields from retail pesticide scams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Prevents crop destruction by misdiagnosis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0 % internet required in the field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Direct premium: 10–20 % via Crop Passport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74820" y="3108960"/>
            <a:ext cx="37033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74820" y="3108960"/>
            <a:ext cx="3703320" cy="59436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74820" y="3108960"/>
            <a:ext cx="3703320" cy="59436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For Verified Buyers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57700" y="3886200"/>
            <a:ext cx="3337560" cy="228600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Quality-assured produce supply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Transparent farm-gate bidding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Cuts out traditional middlemen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Health-clearance badge per lot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80" y="3108960"/>
            <a:ext cx="37033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83880" y="3108960"/>
            <a:ext cx="3703320" cy="59436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83880" y="3108960"/>
            <a:ext cx="3703320" cy="59436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For KVK / Govt (ADO)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3886200"/>
            <a:ext cx="3337560" cy="228600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Audit-ready PMFBY claim generation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Expert escalation within 24 h (call) / 48 h (visit)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Universities see real-time disease outbreaks</a:t>
            </a:r>
          </a:p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• Faster, evidence-based policy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" y="164592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"/>
            <a:ext cx="10515600" cy="54864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Research &amp;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100" b="0" i="1">
                <a:solidFill>
                  <a:srgbClr val="C8E6C9"/>
                </a:solidFill>
                <a:latin typeface="Calibri"/>
              </a:rPr>
              <a:t>Datasets, models &amp; domain knowledge underpinning AgriEdge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2194560" cy="621792"/>
          </a:xfrm>
          <a:prstGeom prst="rect">
            <a:avLst/>
          </a:prstGeom>
          <a:solidFill>
            <a:srgbClr val="C8E6C9"/>
          </a:solidFill>
          <a:ln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2103120" cy="621792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Core 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960120"/>
            <a:ext cx="5669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CEF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0" y="960120"/>
            <a:ext cx="5486400" cy="621792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PlantVillage Open Dataset — labelled leaf-disease images for crops (base for transfer learning).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73352"/>
            <a:ext cx="2194560" cy="621792"/>
          </a:xfrm>
          <a:prstGeom prst="rect">
            <a:avLst/>
          </a:prstGeom>
          <a:solidFill>
            <a:srgbClr val="C8E6C9"/>
          </a:solidFill>
          <a:ln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673352"/>
            <a:ext cx="2103120" cy="621792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Model Architectures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673352"/>
            <a:ext cx="5669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CEF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51760" y="1673352"/>
            <a:ext cx="5486400" cy="621792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MobileNetV3 · EfficientNet — lightweight backbones chosen for mobile / edge inference.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86584"/>
            <a:ext cx="2194560" cy="621792"/>
          </a:xfrm>
          <a:prstGeom prst="rect">
            <a:avLst/>
          </a:prstGeom>
          <a:solidFill>
            <a:srgbClr val="C8E6C9"/>
          </a:solidFill>
          <a:ln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386584"/>
            <a:ext cx="2103120" cy="621792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On-device Runtime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2386584"/>
            <a:ext cx="5669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CEF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51760" y="2386584"/>
            <a:ext cx="5486400" cy="621792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TensorFlow Lite (.tflite, int-8 quantized to ~12–15 MB) embedded in Flutter app assets.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99816"/>
            <a:ext cx="2194560" cy="621792"/>
          </a:xfrm>
          <a:prstGeom prst="rect">
            <a:avLst/>
          </a:prstGeom>
          <a:solidFill>
            <a:srgbClr val="C8E6C9"/>
          </a:solidFill>
          <a:ln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099816"/>
            <a:ext cx="2103120" cy="621792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Image Quality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3099816"/>
            <a:ext cx="5669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CEF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51760" y="3099816"/>
            <a:ext cx="5486400" cy="621792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OpenCV — real-time blur / lighting guardrail for unreliable field conditions.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13048"/>
            <a:ext cx="2194560" cy="621792"/>
          </a:xfrm>
          <a:prstGeom prst="rect">
            <a:avLst/>
          </a:prstGeom>
          <a:solidFill>
            <a:srgbClr val="C8E6C9"/>
          </a:solidFill>
          <a:ln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813048"/>
            <a:ext cx="2103120" cy="621792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OCR &amp; Anti-Scam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813048"/>
            <a:ext cx="5669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CEF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51760" y="3813048"/>
            <a:ext cx="5486400" cy="621792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OCR engine + perceptual hashing (pHash) + EXIF + GPS geo-fencing for fraud prevention.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26280"/>
            <a:ext cx="2194560" cy="621792"/>
          </a:xfrm>
          <a:prstGeom prst="rect">
            <a:avLst/>
          </a:prstGeom>
          <a:solidFill>
            <a:srgbClr val="C8E6C9"/>
          </a:solidFill>
          <a:ln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526280"/>
            <a:ext cx="2103120" cy="621792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Government &amp; Domain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4526280"/>
            <a:ext cx="5669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CEF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51760" y="4526280"/>
            <a:ext cx="5486400" cy="621792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KVK (Krishi Vigyan Kendra) expert network · PMFBY crop-insurance scheme · ADO Agriculture Department Officers.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239512"/>
            <a:ext cx="2194560" cy="621792"/>
          </a:xfrm>
          <a:prstGeom prst="rect">
            <a:avLst/>
          </a:prstGeom>
          <a:solidFill>
            <a:srgbClr val="C8E6C9"/>
          </a:solidFill>
          <a:ln>
            <a:solidFill>
              <a:srgbClr val="1B5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239512"/>
            <a:ext cx="2103120" cy="621792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Calibri"/>
              </a:rPr>
              <a:t>Training Pipeline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0" y="5239512"/>
            <a:ext cx="5669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CEF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651760" y="5239512"/>
            <a:ext cx="5486400" cy="621792"/>
          </a:xfrm>
          <a:prstGeom prst="rect">
            <a:avLst/>
          </a:prstGeom>
          <a:noFill/>
        </p:spPr>
        <p:txBody>
          <a:bodyPr wrap="square" lIns="45000" tIns="18000" rIns="45000" bIns="18000" anchor="ctr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Calibri"/>
              </a:rPr>
              <a:t>Python · Google Colab · Transfer Learning (PlantVillage → MobileNetV3/EfficientNet).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960120"/>
            <a:ext cx="3383280" cy="5212080"/>
          </a:xfrm>
          <a:prstGeom prst="round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95360" y="1097280"/>
            <a:ext cx="3200400" cy="54864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Why AgriEdge AI 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1828800"/>
            <a:ext cx="3200400" cy="411480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Only offline-first agritech with a multi-modal fail-safe pipeline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Quantized TFLite = ≈ zero entry cost on any low-end smartphone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Closes the loop: field diagnosis → market premium → insurance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Built for India: local dialects, KVK, PMFBY, ADO workflows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Designed BY &amp; FOR rural India — every layer is anti-exploitation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5852160"/>
            <a:ext cx="3200400" cy="365760"/>
          </a:xfrm>
          <a:prstGeom prst="rect">
            <a:avLst/>
          </a:prstGeom>
          <a:noFill/>
        </p:spPr>
        <p:txBody>
          <a:bodyPr wrap="square" lIns="45000" tIns="18000" rIns="45000" bIns="18000" anchor="t">
            <a:spAutoFit/>
          </a:bodyPr>
          <a:lstStyle/>
          <a:p>
            <a:pPr algn="ctr"/>
            <a:r>
              <a:rPr sz="1400" b="1" i="0">
                <a:solidFill>
                  <a:srgbClr val="C8E6C9"/>
                </a:solidFill>
                <a:latin typeface="Calibri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852</Words>
  <Application>Microsoft Office PowerPoint</Application>
  <PresentationFormat>Widescreen</PresentationFormat>
  <Paragraphs>146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 EEKSHITA</cp:lastModifiedBy>
  <cp:revision>2</cp:revision>
  <dcterms:created xsi:type="dcterms:W3CDTF">2013-01-27T09:14:16Z</dcterms:created>
  <dcterms:modified xsi:type="dcterms:W3CDTF">2026-09-19T10:55:05Z</dcterms:modified>
  <cp:category/>
</cp:coreProperties>
</file>